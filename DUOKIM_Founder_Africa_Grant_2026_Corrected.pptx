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B2FF00"/>
                </a:solidFill>
                <a:latin typeface="Aptos"/>
              </a:defRPr>
            </a:pPr>
            <a:r>
              <a:t>DUOKIM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0020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Building a smarter, more accessible future for the people and businesses we serve.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F23DA"/>
                </a:solidFill>
                <a:latin typeface="Aptos"/>
              </a:defRPr>
            </a:pPr>
            <a:r>
              <a:t>FOUNDER AFRICA GRANT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8CA"/>
                </a:solidFill>
                <a:latin typeface="Aptos"/>
              </a:defRPr>
            </a:pPr>
            <a:r>
              <a:t>Grant pitch • Corrected investor/grant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EC8CA"/>
                </a:solidFill>
                <a:latin typeface="Aptos"/>
              </a:defRPr>
            </a:pPr>
            <a: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3317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t>₦[GRANT AMOUNT]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6324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State exactly what the grant will unlock in the next 12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B4B7"/>
                </a:solidFill>
                <a:latin typeface="Aptos"/>
              </a:defRPr>
            </a:pPr>
            <a:r>
              <a:t>DUOKIM  •  FOUNDER AFRICA GRANT 2026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F23DA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C"/>
                </a:solidFill>
                <a:latin typeface="Aptos"/>
              </a:defRPr>
            </a:pPr>
            <a:r>
              <a:t>Quantify the pain instead of relying on description.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4A25"/>
                </a:solidFill>
                <a:latin typeface="Aptos"/>
              </a:defRPr>
            </a:pPr>
            <a:r>
              <a:t>THE CUSTOMER PAIN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41414"/>
                </a:solidFill>
                <a:latin typeface="Aptos"/>
              </a:defRPr>
            </a:pPr>
            <a:r>
              <a:t>• Customers face a recurring problem that costs time, money or opportunity.</a:t>
            </a:r>
          </a:p>
          <a:p>
            <a:pPr>
              <a:spcAft>
                <a:spcPts val="1000"/>
              </a:spcAft>
              <a:defRPr sz="1900">
                <a:solidFill>
                  <a:srgbClr val="141414"/>
                </a:solidFill>
                <a:latin typeface="Aptos"/>
              </a:defRPr>
            </a:pPr>
            <a:r>
              <a:t>• Existing alternatives are fragmented, manual, expensive or difficult to access.</a:t>
            </a:r>
          </a:p>
          <a:p>
            <a:pPr>
              <a:spcAft>
                <a:spcPts val="1000"/>
              </a:spcAft>
              <a:defRPr sz="1900">
                <a:solidFill>
                  <a:srgbClr val="141414"/>
                </a:solidFill>
                <a:latin typeface="Aptos"/>
              </a:defRPr>
            </a:pPr>
            <a:r>
              <a:t>• The problem becomes more costly as demand, competition and complexity increase.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4A25"/>
                </a:solidFill>
                <a:latin typeface="Aptos"/>
              </a:defRPr>
            </a:pPr>
            <a:r>
              <a:t>PROOF OF PAIN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96596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6F2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214884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F23DA"/>
                </a:solidFill>
                <a:latin typeface="Aptos"/>
              </a:defRPr>
            </a:pPr>
            <a:r>
              <a:t>[X%]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715768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66C"/>
                </a:solidFill>
                <a:latin typeface="Aptos"/>
              </a:defRPr>
            </a:pPr>
            <a:r>
              <a:t>customers reporting the problem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196596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6F2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37192" y="214884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F23DA"/>
                </a:solidFill>
                <a:latin typeface="Aptos"/>
              </a:defRPr>
            </a:pPr>
            <a:r>
              <a:t>[₦X]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37192" y="2715768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66C"/>
                </a:solidFill>
                <a:latin typeface="Aptos"/>
              </a:defRPr>
            </a:pPr>
            <a:r>
              <a:t>average customer cost / loss /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749039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66C"/>
                </a:solidFill>
                <a:latin typeface="Aptos"/>
              </a:defRPr>
            </a:pPr>
            <a:r>
              <a:t>Replace brackets with verified evidence before submission.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66C"/>
                </a:solidFill>
                <a:latin typeface="Aptos"/>
              </a:defRPr>
            </a:pPr>
            <a:r>
              <a:t>DUOKIM  •  FOUNDER AFRICA GRANT 2026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E1E2"/>
                </a:solidFill>
                <a:latin typeface="Aptos"/>
              </a:defRPr>
            </a:pPr>
            <a:r>
              <a:t>Three shifts create a timely opportunity.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2FF00"/>
                </a:solidFill>
                <a:latin typeface="Aptos"/>
              </a:defRPr>
            </a:pPr>
            <a:r>
              <a:t>01  CUSTOMER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Customers increasingly expect faster, simpler and more transparent solutions.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2FF00"/>
                </a:solidFill>
                <a:latin typeface="Aptos"/>
              </a:defRPr>
            </a:pPr>
            <a:r>
              <a:t>02  TECHNOLOGY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14884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Digital tools make a scalable solution possible at lower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2FF00"/>
                </a:solidFill>
                <a:latin typeface="Aptos"/>
              </a:defRPr>
            </a:pPr>
            <a:r>
              <a:t>03  MARKET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14884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A growing addressable market creates room for a focused African solution.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897880"/>
            <a:ext cx="12191695" cy="777240"/>
          </a:xfrm>
          <a:prstGeom prst="rect">
            <a:avLst/>
          </a:prstGeom>
          <a:solidFill>
            <a:srgbClr val="6F2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062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THE WINDOW IS OPEN FOR DUOKIM TO BECOME A TRUSTED SOLUTION IN THIS CATEGORY.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B4B7"/>
                </a:solidFill>
                <a:latin typeface="Aptos"/>
              </a:defRPr>
            </a:pPr>
            <a:r>
              <a:t>DUOKIM  •  FOUNDER AFRICA GRANT 2026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F23DA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C"/>
                </a:solidFill>
                <a:latin typeface="Aptos"/>
              </a:defRPr>
            </a:pPr>
            <a:r>
              <a:t>Lead with one clear sentence.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71F26"/>
                </a:solidFill>
                <a:latin typeface="Aptos"/>
              </a:defRPr>
            </a:pPr>
            <a:r>
              <a:t>DUOKIM helps [TARGET CUSTOMER] solve [CORE PROBLEM] through [CORE PRODUCT / SERVICE].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Simple: remove unnecessary steps and friction.</a:t>
            </a:r>
          </a:p>
          <a:p>
            <a:pPr>
              <a:spcAft>
                <a:spcPts val="10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Accessible: designed for African customer realities.</a:t>
            </a:r>
          </a:p>
          <a:p>
            <a:pPr>
              <a:spcAft>
                <a:spcPts val="10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Actionable: turn information into a useful customer outcome.</a:t>
            </a:r>
          </a:p>
          <a:p>
            <a:pPr>
              <a:spcAft>
                <a:spcPts val="1000"/>
              </a:spcAft>
              <a:defRPr sz="1800">
                <a:solidFill>
                  <a:srgbClr val="141414"/>
                </a:solidFill>
                <a:latin typeface="Aptos"/>
              </a:defRPr>
            </a:pPr>
            <a:r>
              <a:t>• Scalable: repeatable technology and processes enable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606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F23DA"/>
                </a:solidFill>
                <a:latin typeface="Aptos"/>
              </a:defRPr>
            </a:pPr>
            <a:r>
              <a:t>CUSTOMER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15468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71F26"/>
                </a:solidFill>
                <a:latin typeface="Aptos"/>
              </a:defRPr>
            </a:pPr>
            <a:r>
              <a:t>PROBLEM  →  DUOKIM  →  MEASURABLE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572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66C"/>
                </a:solidFill>
                <a:latin typeface="Aptos"/>
              </a:defRPr>
            </a:pPr>
            <a:r>
              <a:t>State the single strongest outcome 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66C"/>
                </a:solidFill>
                <a:latin typeface="Aptos"/>
              </a:defRPr>
            </a:pPr>
            <a:r>
              <a:t>DUOKIM  •  FOUNDER AFRICA GRANT 2026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F23DA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C"/>
                </a:solidFill>
                <a:latin typeface="Aptos"/>
              </a:defRPr>
            </a:pPr>
            <a:r>
              <a:t>Show the customer workflow, not a feature dump.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F23D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71F26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41732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C666C"/>
                </a:solidFill>
                <a:latin typeface="Aptos"/>
              </a:defRPr>
            </a:pPr>
            <a:r>
              <a:t>Customer enters the problem / need.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F23D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60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71F26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56032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C666C"/>
                </a:solidFill>
                <a:latin typeface="Aptos"/>
              </a:defRPr>
            </a:pPr>
            <a:r>
              <a:t>DUOKIM processes the relevant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F23D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03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71F26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70332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C666C"/>
                </a:solidFill>
                <a:latin typeface="Aptos"/>
              </a:defRPr>
            </a:pPr>
            <a:r>
              <a:t>Customer receives the recommended action / service.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F23D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46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71F26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84632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C666C"/>
                </a:solidFill>
                <a:latin typeface="Aptos"/>
              </a:defRPr>
            </a:pPr>
            <a:r>
              <a:t>Outcome is tracked and used to improve the 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3949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4A25"/>
                </a:solidFill>
                <a:latin typeface="Aptos"/>
              </a:defRPr>
            </a:pPr>
            <a:r>
              <a:t>INSERT 1–2 REAL PRODUCT SCREENSHOTS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66C"/>
                </a:solidFill>
                <a:latin typeface="Aptos"/>
              </a:defRPr>
            </a:pPr>
            <a:r>
              <a:t>DUOKIM  •  FOUNDER AFRICA GRANT 2026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TRACTION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E1E2"/>
                </a:solidFill>
                <a:latin typeface="Aptos"/>
              </a:defRPr>
            </a:pPr>
            <a:r>
              <a:t>Use only verified numbers.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560320" cy="1325880"/>
          </a:xfrm>
          <a:prstGeom prst="roundRect">
            <a:avLst/>
          </a:prstGeom>
          <a:solidFill>
            <a:srgbClr val="143139"/>
          </a:solidFill>
          <a:ln>
            <a:solidFill>
              <a:srgbClr val="6F2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91639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B2FF00"/>
                </a:solidFill>
                <a:latin typeface="Aptos"/>
              </a:defRPr>
            </a:pPr>
            <a:r>
              <a:t>[X]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258568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active / onboarded 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508760"/>
            <a:ext cx="2560320" cy="1325880"/>
          </a:xfrm>
          <a:prstGeom prst="roundRect">
            <a:avLst/>
          </a:prstGeom>
          <a:solidFill>
            <a:srgbClr val="143139"/>
          </a:solidFill>
          <a:ln>
            <a:solidFill>
              <a:srgbClr val="6F2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1691639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B2FF00"/>
                </a:solidFill>
                <a:latin typeface="Aptos"/>
              </a:defRPr>
            </a:pPr>
            <a:r>
              <a:t>[X]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258568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paying customers /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08760"/>
            <a:ext cx="2560320" cy="1325880"/>
          </a:xfrm>
          <a:prstGeom prst="roundRect">
            <a:avLst/>
          </a:prstGeom>
          <a:solidFill>
            <a:srgbClr val="143139"/>
          </a:solidFill>
          <a:ln>
            <a:solidFill>
              <a:srgbClr val="6F2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691639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B2FF00"/>
                </a:solidFill>
                <a:latin typeface="Aptos"/>
              </a:defRPr>
            </a:pPr>
            <a:r>
              <a:t>₦[X]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258568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revenue to 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508760"/>
            <a:ext cx="2560320" cy="1325880"/>
          </a:xfrm>
          <a:prstGeom prst="roundRect">
            <a:avLst/>
          </a:prstGeom>
          <a:solidFill>
            <a:srgbClr val="143139"/>
          </a:solidFill>
          <a:ln>
            <a:solidFill>
              <a:srgbClr val="6F2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54312" y="1691639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B2FF00"/>
                </a:solidFill>
                <a:latin typeface="Aptos"/>
              </a:defRPr>
            </a:pPr>
            <a:r>
              <a:t>[X%]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4312" y="2258568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growth / retention / repeat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2FF00"/>
                </a:solidFill>
                <a:latin typeface="Aptos"/>
              </a:defRPr>
            </a:pPr>
            <a:r>
              <a:t>VALIDATION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[X] pilots completed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[X] partnerships / LOIs signed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[X] customer interviews completed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[X%] improvement in key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9319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2DCDE"/>
                </a:solidFill>
                <a:latin typeface="Aptos"/>
              </a:defRPr>
            </a:pPr>
            <a:r>
              <a:t>If pre-revenue, rename this slide VALIDATION and show pilots, LOIs, users and customer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B4B7"/>
                </a:solidFill>
                <a:latin typeface="Aptos"/>
              </a:defRPr>
            </a:pPr>
            <a:r>
              <a:t>DUOKIM  •  FOUNDER AFRICA GRANT 2026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F23DA"/>
                </a:solidFill>
                <a:latin typeface="Aptos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C"/>
                </a:solidFill>
                <a:latin typeface="Aptos"/>
              </a:defRPr>
            </a:pPr>
            <a:r>
              <a:t>Use a source-backed, bottom-up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6F2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91639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F23DA"/>
                </a:solidFill>
                <a:latin typeface="Aptos"/>
              </a:defRPr>
            </a:pPr>
            <a:r>
              <a:t>$[X]B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58568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66C"/>
                </a:solidFill>
                <a:latin typeface="Aptos"/>
              </a:defRPr>
            </a:pPr>
            <a:r>
              <a:t>TAM — total category opportunity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50876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6F2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691639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F23DA"/>
                </a:solidFill>
                <a:latin typeface="Aptos"/>
              </a:defRPr>
            </a:pPr>
            <a:r>
              <a:t>$[X]M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2258568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66C"/>
                </a:solidFill>
                <a:latin typeface="Aptos"/>
              </a:defRPr>
            </a:pPr>
            <a:r>
              <a:t>SAM — reachable target segment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50876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6F2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1" y="1691639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F23DA"/>
                </a:solidFill>
                <a:latin typeface="Aptos"/>
              </a:defRPr>
            </a:pPr>
            <a:r>
              <a:t>$[X]M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2258568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66C"/>
                </a:solidFill>
                <a:latin typeface="Aptos"/>
              </a:defRPr>
            </a:pPr>
            <a:r>
              <a:t>SOM — realistic 3–5 year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F23DA"/>
                </a:solidFill>
                <a:latin typeface="Aptos"/>
              </a:defRPr>
            </a:pPr>
            <a:r>
              <a:t>BOTTOM-UP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71F26"/>
                </a:solidFill>
                <a:latin typeface="Aptos"/>
              </a:defRPr>
            </a:pPr>
            <a:r>
              <a:t>[Target customers] × [annual spend] × [reachable geography/segment] = market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C"/>
                </a:solidFill>
                <a:latin typeface="Aptos"/>
              </a:defRPr>
            </a:pPr>
            <a:r>
              <a:t>Cite source + year for every external market number.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66C"/>
                </a:solidFill>
                <a:latin typeface="Aptos"/>
              </a:defRPr>
            </a:pPr>
            <a:r>
              <a:t>DUOKIM  •  FOUNDER AFRICA GRANT 2026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F23DA"/>
                </a:solidFill>
                <a:latin typeface="Aptos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C"/>
                </a:solidFill>
                <a:latin typeface="Aptos"/>
              </a:defRPr>
            </a:pPr>
            <a:r>
              <a:t>Show exactly how DUOKIM makes money.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Primary revenue stream: [subscription / transaction / service / enterprise fee].</a:t>
            </a:r>
          </a:p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Average revenue per customer: [₦X].</a:t>
            </a:r>
          </a:p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Gross margin target: [X%].</a:t>
            </a:r>
          </a:p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Customer acquisition cost: [₦X].</a:t>
            </a:r>
          </a:p>
          <a:p>
            <a:pPr>
              <a:spcAft>
                <a:spcPts val="10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t>• Expected payback period: [X months].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F23DA"/>
                </a:solidFill>
                <a:latin typeface="Aptos"/>
              </a:defRPr>
            </a:pPr>
            <a:r>
              <a:t>UNIT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1488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C666C"/>
                </a:solidFill>
                <a:latin typeface="Aptos"/>
              </a:defRPr>
            </a:pPr>
            <a:r>
              <a:t>LTV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574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71F26"/>
                </a:solidFill>
                <a:latin typeface="Aptos"/>
              </a:defRPr>
            </a:pPr>
            <a:r>
              <a:t>₦[X]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718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C666C"/>
                </a:solidFill>
                <a:latin typeface="Aptos"/>
              </a:defRPr>
            </a:pPr>
            <a:r>
              <a:t>CAC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8803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71F26"/>
                </a:solidFill>
                <a:latin typeface="Aptos"/>
              </a:defRPr>
            </a:pPr>
            <a:r>
              <a:t>₦[X]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9776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54A25"/>
                </a:solidFill>
                <a:latin typeface="Aptos"/>
              </a:defRPr>
            </a:pPr>
            <a:r>
              <a:t>LTV / CAC = [X]×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66C"/>
                </a:solidFill>
                <a:latin typeface="Aptos"/>
              </a:defRPr>
            </a:pPr>
            <a:r>
              <a:t>DUOKIM  •  FOUNDER AFRICA GRANT 2026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E1E2"/>
                </a:solidFill>
                <a:latin typeface="Aptos"/>
              </a:defRPr>
            </a:pPr>
            <a:r>
              <a:t>Explain why the position is hard to copy.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3474720" y="141732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1732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2FF00"/>
                </a:solidFill>
                <a:latin typeface="Aptos"/>
              </a:defRPr>
            </a:pPr>
            <a:r>
              <a:t>DUOKIM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DD7D9"/>
                </a:solidFill>
                <a:latin typeface="Aptos"/>
              </a:defRPr>
            </a:pPr>
            <a:r>
              <a:t>Customer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1168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Fragmented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Integrated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DD7D9"/>
                </a:solidFill>
                <a:latin typeface="Aptos"/>
              </a:defRPr>
            </a:pPr>
            <a:r>
              <a:t>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5176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Manual / slow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Digital / faster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DD7D9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9184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Limited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9184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Structured / actionable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DD7D9"/>
                </a:solidFill>
                <a:latin typeface="Aptos"/>
              </a:defRPr>
            </a:pPr>
            <a:r>
              <a:t>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93192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Local / narrow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Scalable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DD7D9"/>
                </a:solidFill>
                <a:latin typeface="Aptos"/>
              </a:defRPr>
            </a:pPr>
            <a:r>
              <a:t>Learning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57200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Weak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7200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Continuous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4A25"/>
                </a:solidFill>
                <a:latin typeface="Aptos"/>
              </a:defRPr>
            </a:pPr>
            <a:r>
              <a:t>OUR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057400"/>
            <a:ext cx="2423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Proprietary data + customer network + domain expertise + workflow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B4B7"/>
                </a:solidFill>
                <a:latin typeface="Aptos"/>
              </a:defRPr>
            </a:pPr>
            <a:r>
              <a:t>DUOKIM  •  FOUNDER AFRICA GRANT 2026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F23DA"/>
                </a:solidFill>
                <a:latin typeface="Aptos"/>
              </a:defRPr>
            </a:pPr>
            <a: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C"/>
                </a:solidFill>
                <a:latin typeface="Aptos"/>
              </a:defRPr>
            </a:pPr>
            <a:r>
              <a:t>Explain how the next 1,000 customers will arrive.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F23DA"/>
                </a:solidFill>
                <a:latin typeface="Aptos"/>
              </a:defRPr>
            </a:pPr>
            <a:r>
              <a:t>01  BEACHHEAD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71F26"/>
                </a:solidFill>
                <a:latin typeface="Aptos"/>
              </a:defRPr>
            </a:pPr>
            <a:r>
              <a:t>Start with [specific customer segment] where the pain is highest.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F23DA"/>
                </a:solidFill>
                <a:latin typeface="Aptos"/>
              </a:defRPr>
            </a:pPr>
            <a:r>
              <a:t>02  ACQUIRE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659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71F26"/>
                </a:solidFill>
                <a:latin typeface="Aptos"/>
              </a:defRPr>
            </a:pPr>
            <a:r>
              <a:t>Use [partnerships / field sales / digital / referrals] to acquire customers.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F23DA"/>
                </a:solidFill>
                <a:latin typeface="Aptos"/>
              </a:defRPr>
            </a:pPr>
            <a:r>
              <a:t>03  CONVERT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71F26"/>
                </a:solidFill>
                <a:latin typeface="Aptos"/>
              </a:defRPr>
            </a:pPr>
            <a:r>
              <a:t>Move pilots and free users into a clear paid offer.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F23DA"/>
                </a:solidFill>
                <a:latin typeface="Aptos"/>
              </a:defRPr>
            </a:pPr>
            <a:r>
              <a:t>04  EXPAND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023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71F26"/>
                </a:solidFill>
                <a:latin typeface="Aptos"/>
              </a:defRPr>
            </a:pPr>
            <a:r>
              <a:t>Increase revenue through repeat use, referrals and adjacent segments.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4A25"/>
                </a:solidFill>
                <a:latin typeface="Aptos"/>
              </a:defRPr>
            </a:pPr>
            <a:r>
              <a:t>12-MONTH CUSTOMER TARGET: [X]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66C"/>
                </a:solidFill>
                <a:latin typeface="Aptos"/>
              </a:defRPr>
            </a:pPr>
            <a:r>
              <a:t>DUOKIM  •  FOUNDER AFRICA GRANT 2026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E1E2"/>
                </a:solidFill>
                <a:latin typeface="Aptos"/>
              </a:defRPr>
            </a:pPr>
            <a:r>
              <a:t>Connect growth to measurable African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560320" cy="1325880"/>
          </a:xfrm>
          <a:prstGeom prst="roundRect">
            <a:avLst/>
          </a:prstGeom>
          <a:solidFill>
            <a:srgbClr val="143139"/>
          </a:solidFill>
          <a:ln>
            <a:solidFill>
              <a:srgbClr val="6F2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91639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B2FF00"/>
                </a:solidFill>
                <a:latin typeface="Aptos"/>
              </a:defRPr>
            </a:pPr>
            <a:r>
              <a:t>[X]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58568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people / businesses directly served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508760"/>
            <a:ext cx="2560320" cy="1325880"/>
          </a:xfrm>
          <a:prstGeom prst="roundRect">
            <a:avLst/>
          </a:prstGeom>
          <a:solidFill>
            <a:srgbClr val="143139"/>
          </a:solidFill>
          <a:ln>
            <a:solidFill>
              <a:srgbClr val="6F2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691639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B2FF00"/>
                </a:solidFill>
                <a:latin typeface="Aptos"/>
              </a:defRPr>
            </a:pPr>
            <a:r>
              <a:t>[X]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2258568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jobs / livelihoods supported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508760"/>
            <a:ext cx="2560320" cy="1325880"/>
          </a:xfrm>
          <a:prstGeom prst="roundRect">
            <a:avLst/>
          </a:prstGeom>
          <a:solidFill>
            <a:srgbClr val="143139"/>
          </a:solidFill>
          <a:ln>
            <a:solidFill>
              <a:srgbClr val="6F2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1" y="1691639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B2FF00"/>
                </a:solidFill>
                <a:latin typeface="Aptos"/>
              </a:defRPr>
            </a:pPr>
            <a:r>
              <a:t>[X%]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2258568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improvement in target outcome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508760"/>
            <a:ext cx="2560320" cy="1325880"/>
          </a:xfrm>
          <a:prstGeom prst="roundRect">
            <a:avLst/>
          </a:prstGeom>
          <a:solidFill>
            <a:srgbClr val="143139"/>
          </a:solidFill>
          <a:ln>
            <a:solidFill>
              <a:srgbClr val="6F2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7192" y="1691639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B2FF00"/>
                </a:solidFill>
                <a:latin typeface="Aptos"/>
              </a:defRPr>
            </a:pPr>
            <a:r>
              <a:t>[X]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7192" y="2258568"/>
            <a:ext cx="2231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communities / locations reached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Measure what matters: customer income/time saved, productivity, access, jobs, resilience or another relevant outcome.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B4B7"/>
                </a:solidFill>
                <a:latin typeface="Aptos"/>
              </a:defRPr>
            </a:pPr>
            <a:r>
              <a:t>DUOKIM  •  FOUNDER AFRICA GRANT 2026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F23DA"/>
                </a:solidFill>
                <a:latin typeface="Aptos"/>
              </a:defRPr>
            </a:pPr>
            <a:r>
              <a:t>12–18 MONTH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C"/>
                </a:solidFill>
                <a:latin typeface="Aptos"/>
              </a:defRPr>
            </a:pPr>
            <a:r>
              <a:t>Every milestone needs a measurable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23DA"/>
                </a:solidFill>
                <a:latin typeface="Aptos"/>
              </a:defRPr>
            </a:pPr>
            <a:r>
              <a:t>0–3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71F26"/>
                </a:solidFill>
                <a:latin typeface="Aptos"/>
              </a:defRPr>
            </a:pPr>
            <a:r>
              <a:t>Product /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C666C"/>
                </a:solidFill>
                <a:latin typeface="Aptos"/>
              </a:defRPr>
            </a:pPr>
            <a:r>
              <a:t>[X] pilot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23DA"/>
                </a:solidFill>
                <a:latin typeface="Aptos"/>
              </a:defRPr>
            </a:pPr>
            <a:r>
              <a:t>4–6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71F26"/>
                </a:solidFill>
                <a:latin typeface="Aptos"/>
              </a:defRPr>
            </a:pPr>
            <a:r>
              <a:t>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154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C666C"/>
                </a:solidFill>
                <a:latin typeface="Aptos"/>
              </a:defRPr>
            </a:pPr>
            <a:r>
              <a:t>[X] paying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23DA"/>
                </a:solidFill>
                <a:latin typeface="Aptos"/>
              </a:defRPr>
            </a:pPr>
            <a:r>
              <a:t>7–12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71F26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154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C666C"/>
                </a:solidFill>
                <a:latin typeface="Aptos"/>
              </a:defRPr>
            </a:pPr>
            <a:r>
              <a:t>₦[X] revenue /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1828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23DA"/>
                </a:solidFill>
                <a:latin typeface="Aptos"/>
              </a:defRPr>
            </a:pPr>
            <a:r>
              <a:t>13–18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423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71F26"/>
                </a:solidFill>
                <a:latin typeface="Aptos"/>
              </a:defRPr>
            </a:pPr>
            <a:r>
              <a:t>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1546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C666C"/>
                </a:solidFill>
                <a:latin typeface="Aptos"/>
              </a:defRPr>
            </a:pPr>
            <a:r>
              <a:t>[X] locations / markets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4A25"/>
                </a:solidFill>
                <a:latin typeface="Aptos"/>
              </a:defRPr>
            </a:pPr>
            <a:r>
              <a:t>Highlight the milestones directly enabled by the grant.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66C"/>
                </a:solidFill>
                <a:latin typeface="Aptos"/>
              </a:defRPr>
            </a:pPr>
            <a:r>
              <a:t>DUOKIM  •  FOUNDER AFRICA GRANT 2026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E1E2"/>
                </a:solidFill>
                <a:latin typeface="Aptos"/>
              </a:defRPr>
            </a:pPr>
            <a:r>
              <a:t>Show why this team can execute.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2FF00"/>
                </a:solidFill>
                <a:latin typeface="Aptos"/>
              </a:defRPr>
            </a:pPr>
            <a:r>
              <a:t>FOUNDER /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46304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[Name] — relevant domain experience + strongest execution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2FF00"/>
                </a:solidFill>
                <a:latin typeface="Aptos"/>
              </a:defRPr>
            </a:pPr>
            <a:r>
              <a:t>PRODUCT /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78892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[Name] — product, engineering or data capability.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2FF00"/>
                </a:solidFill>
                <a:latin typeface="Aptos"/>
              </a:defRPr>
            </a:pPr>
            <a:r>
              <a:t>COMMERCIAL /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411480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[Name] — sales, partnerships or field execution.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4A25"/>
                </a:solidFill>
                <a:latin typeface="Aptos"/>
              </a:defRPr>
            </a:pPr>
            <a:r>
              <a:t>WHY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541324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Domain insight  •  execution record  •  customer access  •  technical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B4B7"/>
                </a:solidFill>
                <a:latin typeface="Aptos"/>
              </a:defRPr>
            </a:pPr>
            <a:r>
              <a:t>DUOKIM  •  FOUNDER AFRICA GRANT 2026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F23DA"/>
                </a:solidFill>
                <a:latin typeface="Aptos"/>
              </a:defRPr>
            </a:pPr>
            <a:r>
              <a:t>FUNDING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66C"/>
                </a:solidFill>
                <a:latin typeface="Aptos"/>
              </a:defRPr>
            </a:pPr>
            <a:r>
              <a:t>Turn the grant into a measurable 12-month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F23DA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71F26"/>
                </a:solidFill>
                <a:latin typeface="Aptos"/>
              </a:defRPr>
            </a:pPr>
            <a:r>
              <a:t>₦[X]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417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23DA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417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F26"/>
                </a:solidFill>
                <a:latin typeface="Aptos"/>
              </a:defRPr>
            </a:pPr>
            <a:r>
              <a:t>₦[X]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4173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66C"/>
                </a:solidFill>
                <a:latin typeface="Aptos"/>
              </a:defRPr>
            </a:pPr>
            <a:r>
              <a:t>Launch / improve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23DA"/>
                </a:solidFill>
                <a:latin typeface="Aptos"/>
              </a:defRPr>
            </a:pPr>
            <a: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F26"/>
                </a:solidFill>
                <a:latin typeface="Aptos"/>
              </a:defRPr>
            </a:pPr>
            <a:r>
              <a:t>₦[X]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3774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66C"/>
                </a:solidFill>
                <a:latin typeface="Aptos"/>
              </a:defRPr>
            </a:pPr>
            <a:r>
              <a:t>Acquire [X]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3375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23DA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3375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F26"/>
                </a:solidFill>
                <a:latin typeface="Aptos"/>
              </a:defRPr>
            </a:pPr>
            <a:r>
              <a:t>₦[X]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3375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66C"/>
                </a:solidFill>
                <a:latin typeface="Aptos"/>
              </a:defRPr>
            </a:pPr>
            <a:r>
              <a:t>Reach [X] locations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297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F23DA"/>
                </a:solidFill>
                <a:latin typeface="Aptos"/>
              </a:defRPr>
            </a:pPr>
            <a:r>
              <a:t>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297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F26"/>
                </a:solidFill>
                <a:latin typeface="Aptos"/>
              </a:defRPr>
            </a:pPr>
            <a:r>
              <a:t>₦[X]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2976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66C"/>
                </a:solidFill>
                <a:latin typeface="Aptos"/>
              </a:defRPr>
            </a:pPr>
            <a:r>
              <a:t>Hire critical 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4A25"/>
                </a:solidFill>
                <a:latin typeface="Aptos"/>
              </a:defRPr>
            </a:pPr>
            <a:r>
              <a:t>GRANT →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406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71F26"/>
                </a:solidFill>
                <a:latin typeface="Aptos"/>
              </a:defRPr>
            </a:pPr>
            <a:r>
              <a:t>₦[X] invested → [X] customers → ₦[X] revenue → [X] jobs / impact 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C666C"/>
                </a:solidFill>
                <a:latin typeface="Aptos"/>
              </a:defRPr>
            </a:pPr>
            <a:r>
              <a:t>DUOKIM  •  FOUNDER AFRICA GRANT 2026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2FF00"/>
                </a:solidFill>
                <a:latin typeface="Aptos"/>
              </a:defRPr>
            </a:pPr>
            <a: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9966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DUOKIM will become a trusted, scalable African solution for [CATEGORY / CUSTOMER].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D7E1E3"/>
                </a:solidFill>
                <a:latin typeface="Aptos"/>
              </a:defRPr>
            </a:pPr>
            <a:r>
              <a:t>We are not asking for funding to prove that the problem exists.</a:t>
            </a:r>
            <a:br/>
            <a:r>
              <a:t>We are asking for funding to scale a validated solution and deliver measurable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4A25"/>
                </a:solidFill>
                <a:latin typeface="Aptos"/>
              </a:defRPr>
            </a:pPr>
            <a:r>
              <a:t>THE NEXT 12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766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2FF00"/>
                </a:solidFill>
                <a:latin typeface="Aptos"/>
              </a:defRPr>
            </a:pPr>
            <a:r>
              <a:t>[X] customers  •  ₦[X] revenue  •  [X] jobs / impact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B4B7"/>
                </a:solidFill>
                <a:latin typeface="Aptos"/>
              </a:defRPr>
            </a:pPr>
            <a:r>
              <a:t>DUOKIM  •  FOUNDER AFRICA GRANT 2026  •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